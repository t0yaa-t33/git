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4" r:id="rId17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370" y="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4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pattern_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4320"/>
            <a:ext cx="18288000" cy="1463040"/>
          </a:xfrm>
          <a:prstGeom prst="rect">
            <a:avLst/>
          </a:prstGeom>
        </p:spPr>
      </p:pic>
      <p:pic>
        <p:nvPicPr>
          <p:cNvPr id="4" name="Picture 3" descr="pattern_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8823960"/>
            <a:ext cx="8229600" cy="1737360"/>
          </a:xfrm>
          <a:prstGeom prst="rect">
            <a:avLst/>
          </a:prstGeom>
        </p:spPr>
      </p:pic>
      <p:pic>
        <p:nvPicPr>
          <p:cNvPr id="5" name="Picture 4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4558" y="457200"/>
            <a:ext cx="5104802" cy="2240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3931920"/>
            <a:ext cx="16002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000" b="1" i="0">
                <a:solidFill>
                  <a:srgbClr val="E1C5CB"/>
                </a:solidFill>
                <a:latin typeface="Montserrat SemiBold"/>
              </a:rPr>
              <a:t>BASICS FOR CORPORATE SECURITY AND RISK MANAGEMENT  |  C6-BCS-23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16002000" cy="16619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 i="0" dirty="0">
                <a:solidFill>
                  <a:srgbClr val="FFFFFF"/>
                </a:solidFill>
                <a:latin typeface="Montserrat Black"/>
              </a:rPr>
              <a:t>Week 9: Business Continuity &amp; Crisis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4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2148840"/>
          </a:xfrm>
          <a:prstGeom prst="rect">
            <a:avLst/>
          </a:prstGeom>
          <a:solidFill>
            <a:srgbClr val="1D3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8880" y="274320"/>
            <a:ext cx="4271364" cy="1874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02920"/>
            <a:ext cx="1325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ED8022"/>
                </a:solidFill>
                <a:latin typeface="Montserrat SemiBold"/>
              </a:rPr>
              <a:t>WEEK 9 · 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5087600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4400" b="1" i="0" dirty="0">
                <a:solidFill>
                  <a:srgbClr val="FFFFFF"/>
                </a:solidFill>
                <a:latin typeface="Montserrat Black"/>
              </a:rPr>
              <a:t>Objectives</a:t>
            </a:r>
            <a:endParaRPr sz="4400" b="1" i="0" dirty="0">
              <a:solidFill>
                <a:srgbClr val="FFFFFF"/>
              </a:solidFill>
              <a:latin typeface="Montserrat Black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16276320" cy="3050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2800" b="1" i="0" dirty="0">
                <a:solidFill>
                  <a:srgbClr val="FFFFFF"/>
                </a:solidFill>
                <a:latin typeface="Montserrat Medium"/>
              </a:rPr>
              <a:t>▪ Explain the purpose of a Business Impact Analysis (BIA)</a:t>
            </a:r>
          </a:p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2800" b="1" i="0" dirty="0">
                <a:solidFill>
                  <a:srgbClr val="FFFFFF"/>
                </a:solidFill>
                <a:latin typeface="Montserrat Medium"/>
              </a:rPr>
              <a:t>▪ Describe the role of disaster recovery within business continuity</a:t>
            </a:r>
          </a:p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2800" b="1" i="0" dirty="0">
                <a:solidFill>
                  <a:srgbClr val="FFFFFF"/>
                </a:solidFill>
                <a:latin typeface="Montserrat Medium"/>
              </a:rPr>
              <a:t>▪ Apply crisis communication principles to a security incident</a:t>
            </a:r>
          </a:p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2800" b="1" i="0" dirty="0">
                <a:solidFill>
                  <a:srgbClr val="FFFFFF"/>
                </a:solidFill>
                <a:latin typeface="Montserrat Medium"/>
              </a:rPr>
              <a:t>▪ Explain the incident command structure and its role in </a:t>
            </a:r>
            <a:r>
              <a:rPr sz="2800" b="1" i="0" dirty="0" err="1">
                <a:solidFill>
                  <a:srgbClr val="FFFFFF"/>
                </a:solidFill>
                <a:latin typeface="Montserrat Medium"/>
              </a:rPr>
              <a:t>organisational</a:t>
            </a:r>
            <a:r>
              <a:rPr sz="2800" b="1" i="0" dirty="0">
                <a:solidFill>
                  <a:srgbClr val="FFFFFF"/>
                </a:solidFill>
                <a:latin typeface="Montserrat Medium"/>
              </a:rPr>
              <a:t> resilience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4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2148840"/>
          </a:xfrm>
          <a:prstGeom prst="rect">
            <a:avLst/>
          </a:prstGeom>
          <a:solidFill>
            <a:srgbClr val="1D3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9436" y="320040"/>
            <a:ext cx="4271364" cy="1874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02920"/>
            <a:ext cx="1325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ED8022"/>
                </a:solidFill>
                <a:latin typeface="Montserrat SemiBold"/>
              </a:rPr>
              <a:t>WEEK 9 · CORE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508760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000" b="1" i="0" dirty="0">
                <a:solidFill>
                  <a:srgbClr val="FFFFFF"/>
                </a:solidFill>
                <a:latin typeface="Montserrat Black"/>
              </a:rPr>
              <a:t>Business Impact Analysis and Disaster Recovery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16276320" cy="36964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2800" b="1" i="0" dirty="0">
                <a:solidFill>
                  <a:srgbClr val="FFFFFF"/>
                </a:solidFill>
                <a:latin typeface="Montserrat Medium"/>
              </a:rPr>
              <a:t>▪ BIA identifies critical business functions and the impact of their disruption over time</a:t>
            </a:r>
          </a:p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2800" b="1" i="0" dirty="0">
                <a:solidFill>
                  <a:srgbClr val="FFFFFF"/>
                </a:solidFill>
                <a:latin typeface="Montserrat Medium"/>
              </a:rPr>
              <a:t>▪ Recovery Time Objective (RTO) and Recovery Point Objective (RPO) are derived from the BIA</a:t>
            </a:r>
          </a:p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2800" b="1" i="0" dirty="0">
                <a:solidFill>
                  <a:srgbClr val="FFFFFF"/>
                </a:solidFill>
                <a:latin typeface="Montserrat Medium"/>
              </a:rPr>
              <a:t>▪ Disaster recovery focuses specifically on restoring IT systems and data</a:t>
            </a:r>
          </a:p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2800" b="1" i="0" dirty="0">
                <a:solidFill>
                  <a:srgbClr val="FFFFFF"/>
                </a:solidFill>
                <a:latin typeface="Montserrat Medium"/>
              </a:rPr>
              <a:t>▪ BIA findings should directly </a:t>
            </a:r>
            <a:r>
              <a:rPr sz="2800" b="1" i="0" dirty="0" err="1">
                <a:solidFill>
                  <a:srgbClr val="FFFFFF"/>
                </a:solidFill>
                <a:latin typeface="Montserrat Medium"/>
              </a:rPr>
              <a:t>prioritise</a:t>
            </a:r>
            <a:r>
              <a:rPr sz="2800" b="1" i="0" dirty="0">
                <a:solidFill>
                  <a:srgbClr val="FFFFFF"/>
                </a:solidFill>
                <a:latin typeface="Montserrat Medium"/>
              </a:rPr>
              <a:t> which systems and functions are restored first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4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2148840"/>
          </a:xfrm>
          <a:prstGeom prst="rect">
            <a:avLst/>
          </a:prstGeom>
          <a:solidFill>
            <a:srgbClr val="1D3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9436" y="320040"/>
            <a:ext cx="4271364" cy="1874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02920"/>
            <a:ext cx="1325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ED8022"/>
                </a:solidFill>
                <a:latin typeface="Montserrat SemiBold"/>
              </a:rPr>
              <a:t>WEEK 9 · CORE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508760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000" b="1" i="0" dirty="0">
                <a:solidFill>
                  <a:srgbClr val="FFFFFF"/>
                </a:solidFill>
                <a:latin typeface="Montserrat Black"/>
              </a:rPr>
              <a:t>Crisis 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16276320" cy="36964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2800" b="1" i="0" dirty="0">
                <a:solidFill>
                  <a:srgbClr val="FFFFFF"/>
                </a:solidFill>
                <a:latin typeface="Montserrat Medium"/>
              </a:rPr>
              <a:t>▪ Rapid, honest, and consistent communication limits confusion and reputational damage</a:t>
            </a:r>
          </a:p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2800" b="1" i="0" dirty="0">
                <a:solidFill>
                  <a:srgbClr val="FFFFFF"/>
                </a:solidFill>
                <a:latin typeface="Montserrat Medium"/>
              </a:rPr>
              <a:t>▪ Pre-approved templates and spokesperson roles speed up response under pressure</a:t>
            </a:r>
          </a:p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2800" b="1" i="0" dirty="0">
                <a:solidFill>
                  <a:srgbClr val="FFFFFF"/>
                </a:solidFill>
                <a:latin typeface="Montserrat Medium"/>
              </a:rPr>
              <a:t>▪ Internal communication (staff) and external communication (media, customers) require different approaches</a:t>
            </a:r>
          </a:p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2800" b="1" i="0" dirty="0">
                <a:solidFill>
                  <a:srgbClr val="FFFFFF"/>
                </a:solidFill>
                <a:latin typeface="Montserrat Medium"/>
              </a:rPr>
              <a:t>▪ Silence or inconsistency during a crisis is itself a significant risk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4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2148840"/>
          </a:xfrm>
          <a:prstGeom prst="rect">
            <a:avLst/>
          </a:prstGeom>
          <a:solidFill>
            <a:srgbClr val="1D3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9436" y="320040"/>
            <a:ext cx="4271364" cy="1874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02920"/>
            <a:ext cx="1325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ED8022"/>
                </a:solidFill>
                <a:latin typeface="Montserrat SemiBold"/>
              </a:rPr>
              <a:t>WEEK 9 · CORE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50876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600" b="1" i="0" dirty="0">
                <a:solidFill>
                  <a:srgbClr val="FFFFFF"/>
                </a:solidFill>
                <a:latin typeface="Montserrat Black"/>
              </a:rPr>
              <a:t>Incident Command and </a:t>
            </a:r>
            <a:r>
              <a:rPr sz="3600" b="1" i="0" dirty="0" err="1">
                <a:solidFill>
                  <a:srgbClr val="FFFFFF"/>
                </a:solidFill>
                <a:latin typeface="Montserrat Black"/>
              </a:rPr>
              <a:t>Organisational</a:t>
            </a:r>
            <a:r>
              <a:rPr sz="3600" b="1" i="0" dirty="0">
                <a:solidFill>
                  <a:srgbClr val="FFFFFF"/>
                </a:solidFill>
                <a:latin typeface="Montserrat Black"/>
              </a:rPr>
              <a:t> Resilience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16276320" cy="43437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2800" b="1" i="0" dirty="0">
                <a:solidFill>
                  <a:srgbClr val="FFFFFF"/>
                </a:solidFill>
                <a:latin typeface="Montserrat Medium"/>
              </a:rPr>
              <a:t>▪ A clear incident command structure defines authority and decision-making during a crisis</a:t>
            </a:r>
          </a:p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2800" b="1" i="0" dirty="0">
                <a:solidFill>
                  <a:srgbClr val="FFFFFF"/>
                </a:solidFill>
                <a:latin typeface="Montserrat Medium"/>
              </a:rPr>
              <a:t>▪ Roles typically include an incident commander, operations lead, and communications lead</a:t>
            </a:r>
          </a:p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2800" b="1" i="0" dirty="0">
                <a:solidFill>
                  <a:srgbClr val="FFFFFF"/>
                </a:solidFill>
                <a:latin typeface="Montserrat Medium"/>
              </a:rPr>
              <a:t>▪ Resilience is the capacity to absorb disruption and continue delivering critical functions</a:t>
            </a:r>
          </a:p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2800" b="1" i="0" dirty="0">
                <a:solidFill>
                  <a:srgbClr val="FFFFFF"/>
                </a:solidFill>
                <a:latin typeface="Montserrat Medium"/>
              </a:rPr>
              <a:t>▪ Regular drills and exercises test whether the command structure actually works under pressure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4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2148840"/>
          </a:xfrm>
          <a:prstGeom prst="rect">
            <a:avLst/>
          </a:prstGeom>
          <a:solidFill>
            <a:srgbClr val="1D3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6154" y="320040"/>
            <a:ext cx="3854646" cy="1691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02920"/>
            <a:ext cx="1325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ED8022"/>
                </a:solidFill>
                <a:latin typeface="Montserrat SemiBold"/>
              </a:rPr>
              <a:t>WEEK 9 · REAL-WORLD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50876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i="0" dirty="0">
                <a:solidFill>
                  <a:srgbClr val="FFFFFF"/>
                </a:solidFill>
                <a:latin typeface="Montserrat Black"/>
              </a:rPr>
              <a:t>Hurricane Sandy and Wall Street Business Continuity (2012)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514600"/>
            <a:ext cx="4879340" cy="502920"/>
          </a:xfrm>
          <a:prstGeom prst="rect">
            <a:avLst/>
          </a:prstGeom>
          <a:solidFill>
            <a:srgbClr val="369A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ontserrat SemiBold"/>
              </a:rPr>
              <a:t>REAL-WORLD 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46120"/>
            <a:ext cx="162763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 dirty="0">
                <a:solidFill>
                  <a:srgbClr val="ED8022"/>
                </a:solidFill>
                <a:latin typeface="Montserrat SemiBold"/>
              </a:rPr>
              <a:t>New York Financial District — Hurricane Sandy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31920"/>
            <a:ext cx="16276320" cy="42668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2800" b="0" i="0" dirty="0">
                <a:solidFill>
                  <a:srgbClr val="FFFFFF"/>
                </a:solidFill>
                <a:latin typeface="Montserrat"/>
              </a:rPr>
              <a:t>▪ Severe flooding disrupted power and operations across lower Manhattan's financial district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2800" b="0" i="0" dirty="0">
                <a:solidFill>
                  <a:srgbClr val="FFFFFF"/>
                </a:solidFill>
                <a:latin typeface="Montserrat"/>
              </a:rPr>
              <a:t>▪ Firms with tested business continuity plans relocated operations to backup sites quickly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2800" b="0" i="0" dirty="0">
                <a:solidFill>
                  <a:srgbClr val="FFFFFF"/>
                </a:solidFill>
                <a:latin typeface="Montserrat"/>
              </a:rPr>
              <a:t>▪ Some firms without adequate continuity planning faced extended operational disruption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2800" b="0" i="0" dirty="0">
                <a:solidFill>
                  <a:srgbClr val="FFFFFF"/>
                </a:solidFill>
                <a:latin typeface="Montserrat"/>
              </a:rPr>
              <a:t>▪ Reinforced the financial sector's investment in geographically dispersed backup capability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4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2148840"/>
          </a:xfrm>
          <a:prstGeom prst="rect">
            <a:avLst/>
          </a:prstGeom>
          <a:solidFill>
            <a:srgbClr val="1D3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3615" y="320040"/>
            <a:ext cx="4167185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02920"/>
            <a:ext cx="1325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ED8022"/>
                </a:solidFill>
                <a:latin typeface="Montserrat SemiBold"/>
              </a:rPr>
              <a:t>WEEK 9 · REAL-WORLD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508760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000" b="1" i="0" dirty="0">
                <a:solidFill>
                  <a:srgbClr val="FFFFFF"/>
                </a:solidFill>
                <a:latin typeface="Montserrat Black"/>
              </a:rPr>
              <a:t>Costa Concordia Crisis Management Failure (2012)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514600"/>
            <a:ext cx="4307840" cy="502920"/>
          </a:xfrm>
          <a:prstGeom prst="rect">
            <a:avLst/>
          </a:prstGeom>
          <a:solidFill>
            <a:srgbClr val="369A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Montserrat SemiBold"/>
              </a:rPr>
              <a:t>REAL-WORLD 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46120"/>
            <a:ext cx="162763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 dirty="0">
                <a:solidFill>
                  <a:srgbClr val="ED8022"/>
                </a:solidFill>
                <a:latin typeface="Montserrat SemiBold"/>
              </a:rPr>
              <a:t>Costa Concordia — Cruise Ship Grounding, Italy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31920"/>
            <a:ext cx="16276320" cy="5559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2800" b="0" i="0" dirty="0">
                <a:solidFill>
                  <a:srgbClr val="FFFFFF"/>
                </a:solidFill>
                <a:latin typeface="Montserrat"/>
              </a:rPr>
              <a:t>▪ A cruise ship ran aground after deviating from its planned course, causing significant loss of life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2800" b="0" i="0" dirty="0">
                <a:solidFill>
                  <a:srgbClr val="FFFFFF"/>
                </a:solidFill>
                <a:latin typeface="Montserrat"/>
              </a:rPr>
              <a:t>▪ Evacuation was delayed, and initial crew communication to passengers was inconsistent and unclear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2800" b="0" i="0" dirty="0">
                <a:solidFill>
                  <a:srgbClr val="FFFFFF"/>
                </a:solidFill>
                <a:latin typeface="Montserrat"/>
              </a:rPr>
              <a:t>▪ Post-incident reviews highlighted failures in incident command and crisis communication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2800" b="0" i="0" dirty="0">
                <a:solidFill>
                  <a:srgbClr val="FFFFFF"/>
                </a:solidFill>
                <a:latin typeface="Montserrat"/>
              </a:rPr>
              <a:t>▪ A widely studied case of how a weak crisis response can compound an initial incident's severity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4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2148840"/>
          </a:xfrm>
          <a:prstGeom prst="rect">
            <a:avLst/>
          </a:prstGeom>
          <a:solidFill>
            <a:srgbClr val="1D3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4260" y="320040"/>
            <a:ext cx="4566540" cy="20040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02920"/>
            <a:ext cx="1325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ED8022"/>
                </a:solidFill>
                <a:latin typeface="Montserrat SemiBold"/>
              </a:rPr>
              <a:t>WEEK 9 · APPLYING THE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50876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600" b="1" i="0" dirty="0">
                <a:solidFill>
                  <a:srgbClr val="FFFFFF"/>
                </a:solidFill>
                <a:latin typeface="Montserrat Black"/>
              </a:rPr>
              <a:t>Worked Example: BIA-Driven Recovery </a:t>
            </a:r>
            <a:r>
              <a:rPr sz="3600" b="1" i="0" dirty="0" err="1">
                <a:solidFill>
                  <a:srgbClr val="FFFFFF"/>
                </a:solidFill>
                <a:latin typeface="Montserrat Black"/>
              </a:rPr>
              <a:t>Prioritisation</a:t>
            </a:r>
            <a:endParaRPr sz="3600" b="1" i="0" dirty="0">
              <a:solidFill>
                <a:srgbClr val="FFFFFF"/>
              </a:solidFill>
              <a:latin typeface="Montserrat Black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16276320" cy="36964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2800" b="1" i="0" dirty="0">
                <a:solidFill>
                  <a:srgbClr val="FFFFFF"/>
                </a:solidFill>
                <a:latin typeface="Montserrat Medium"/>
              </a:rPr>
              <a:t>▪ Scenario: a bank's BIA identifies payments processing as its most time-critical function</a:t>
            </a:r>
          </a:p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2800" b="1" i="0" dirty="0">
                <a:solidFill>
                  <a:srgbClr val="FFFFFF"/>
                </a:solidFill>
                <a:latin typeface="Montserrat Medium"/>
              </a:rPr>
              <a:t>▪ Payments processing RTO is set at 2 hours; internal reporting systems RTO is set at 48 hours</a:t>
            </a:r>
          </a:p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2800" b="1" i="0" dirty="0">
                <a:solidFill>
                  <a:srgbClr val="FFFFFF"/>
                </a:solidFill>
                <a:latin typeface="Montserrat Medium"/>
              </a:rPr>
              <a:t>▪ Disaster recovery resources are allocated to restore payments processing first</a:t>
            </a:r>
          </a:p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2800" b="1" i="0" dirty="0">
                <a:solidFill>
                  <a:srgbClr val="FFFFFF"/>
                </a:solidFill>
                <a:latin typeface="Montserrat Medium"/>
              </a:rPr>
              <a:t>▪ Crisis communication informs customers proactively before they notice service disruption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4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2148840"/>
          </a:xfrm>
          <a:prstGeom prst="rect">
            <a:avLst/>
          </a:prstGeom>
          <a:solidFill>
            <a:srgbClr val="1D3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3615" y="320040"/>
            <a:ext cx="4167185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02920"/>
            <a:ext cx="1325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ED8022"/>
                </a:solidFill>
                <a:latin typeface="Montserrat SemiBold"/>
              </a:rPr>
              <a:t>WEEK 9 · KNOWLEDGE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5087600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400" b="1" i="0" dirty="0">
                <a:solidFill>
                  <a:srgbClr val="FFFFFF"/>
                </a:solidFill>
                <a:latin typeface="Montserrat Black"/>
              </a:rPr>
              <a:t>Check Your Understanding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514600"/>
            <a:ext cx="4714240" cy="502920"/>
          </a:xfrm>
          <a:prstGeom prst="rect">
            <a:avLst/>
          </a:prstGeom>
          <a:solidFill>
            <a:srgbClr val="ED8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ontserrat SemiBold"/>
              </a:rPr>
              <a:t>QUESTION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91840"/>
            <a:ext cx="16276320" cy="16619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600" b="1" i="0" dirty="0">
                <a:solidFill>
                  <a:srgbClr val="FFFFFF"/>
                </a:solidFill>
                <a:latin typeface="Montserrat SemiBold"/>
              </a:rPr>
              <a:t>What specific failure in the Costa Concordia case shows why a defined incident command structure matters, beyond just having a plan on paper?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029200"/>
            <a:ext cx="16276320" cy="491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</a:pPr>
            <a:r>
              <a:rPr sz="2400" b="0" i="0" dirty="0">
                <a:solidFill>
                  <a:srgbClr val="E1C5CB"/>
                </a:solidFill>
                <a:latin typeface="Montserrat"/>
              </a:rPr>
              <a:t>– Think about what happens when authority and communication roles are unclear during a real crisis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4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2148840"/>
          </a:xfrm>
          <a:prstGeom prst="rect">
            <a:avLst/>
          </a:prstGeom>
          <a:solidFill>
            <a:srgbClr val="1D3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7760" y="320040"/>
            <a:ext cx="1463040" cy="6420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02920"/>
            <a:ext cx="1325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ED8022"/>
                </a:solidFill>
                <a:latin typeface="Montserrat SemiBold"/>
              </a:rPr>
              <a:t>WEEK 9 · KNOWLEDGE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50876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Montserrat Black"/>
              </a:rPr>
              <a:t>Suggested 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514600"/>
            <a:ext cx="2926080" cy="502920"/>
          </a:xfrm>
          <a:prstGeom prst="rect">
            <a:avLst/>
          </a:prstGeom>
          <a:solidFill>
            <a:srgbClr val="548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 SemiBold"/>
              </a:rPr>
              <a:t>SOLUTION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91840"/>
            <a:ext cx="16276320" cy="6537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200"/>
              </a:spcAft>
            </a:pPr>
            <a:r>
              <a:rPr sz="1800" b="0" i="0">
                <a:solidFill>
                  <a:srgbClr val="FFFFFF"/>
                </a:solidFill>
                <a:latin typeface="Montserrat Medium"/>
              </a:rPr>
              <a:t>✓ Delayed evacuation and inconsistent communication suggest unclear real-time decision authority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FFFFFF"/>
                </a:solidFill>
                <a:latin typeface="Montserrat Medium"/>
              </a:rPr>
              <a:t>✓ A defined incident command structure ensures someone has clear authority to act decisively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FFFFFF"/>
                </a:solidFill>
                <a:latin typeface="Montserrat Medium"/>
              </a:rPr>
              <a:t>✓ Without tested command structures, confusion can compound the severity of the original incident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FFFFFF"/>
                </a:solidFill>
                <a:latin typeface="Montserrat Medium"/>
              </a:rPr>
              <a:t>✓ This reinforces the need for regular drills, not just documented plans, as covered this week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4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2148840"/>
          </a:xfrm>
          <a:prstGeom prst="rect">
            <a:avLst/>
          </a:prstGeom>
          <a:solidFill>
            <a:srgbClr val="1D3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6154" y="320040"/>
            <a:ext cx="3854646" cy="1691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02920"/>
            <a:ext cx="1325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ED8022"/>
                </a:solidFill>
                <a:latin typeface="Montserrat SemiBold"/>
              </a:rPr>
              <a:t>WEEK 9 · KNOWLEDGE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508760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000" b="1" i="0" dirty="0">
                <a:solidFill>
                  <a:srgbClr val="FFFFFF"/>
                </a:solidFill>
                <a:latin typeface="Montserrat Black"/>
              </a:rPr>
              <a:t>Check Your Understanding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514600"/>
            <a:ext cx="4015740" cy="502920"/>
          </a:xfrm>
          <a:prstGeom prst="rect">
            <a:avLst/>
          </a:prstGeom>
          <a:solidFill>
            <a:srgbClr val="ED8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 SemiBold"/>
              </a:rPr>
              <a:t>QUESTION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91840"/>
            <a:ext cx="1627632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i="0" dirty="0">
                <a:solidFill>
                  <a:srgbClr val="FFFFFF"/>
                </a:solidFill>
                <a:latin typeface="Montserrat SemiBold"/>
              </a:rPr>
              <a:t>Why might a firm's disaster recovery plan succeed technically while its overall business continuity still fails?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029200"/>
            <a:ext cx="162763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2400" b="0" i="0" dirty="0">
                <a:solidFill>
                  <a:srgbClr val="E1C5CB"/>
                </a:solidFill>
                <a:latin typeface="Montserrat"/>
              </a:rPr>
              <a:t>– Consider what business continuity covers beyond just IT systems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4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2148840"/>
          </a:xfrm>
          <a:prstGeom prst="rect">
            <a:avLst/>
          </a:prstGeom>
          <a:solidFill>
            <a:srgbClr val="1D3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3615" y="320040"/>
            <a:ext cx="4167185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02920"/>
            <a:ext cx="1325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ED8022"/>
                </a:solidFill>
                <a:latin typeface="Montserrat SemiBold"/>
              </a:rPr>
              <a:t>WEEK 9 · KNOWLEDGE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508760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000" b="1" i="0" dirty="0">
                <a:solidFill>
                  <a:srgbClr val="FFFFFF"/>
                </a:solidFill>
                <a:latin typeface="Montserrat Black"/>
              </a:rPr>
              <a:t>Suggested 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514600"/>
            <a:ext cx="3863340" cy="502920"/>
          </a:xfrm>
          <a:prstGeom prst="rect">
            <a:avLst/>
          </a:prstGeom>
          <a:solidFill>
            <a:srgbClr val="548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Montserrat SemiBold"/>
              </a:rPr>
              <a:t>SOLUTION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91840"/>
            <a:ext cx="16276320" cy="4913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2800" b="0" i="0" dirty="0">
                <a:solidFill>
                  <a:srgbClr val="FFFFFF"/>
                </a:solidFill>
                <a:latin typeface="Montserrat Medium"/>
              </a:rPr>
              <a:t>✓ Disaster recovery restores technical systems, but people, premises, and processes also matter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2800" b="0" i="0" dirty="0">
                <a:solidFill>
                  <a:srgbClr val="FFFFFF"/>
                </a:solidFill>
                <a:latin typeface="Montserrat Medium"/>
              </a:rPr>
              <a:t>✓ A firm could restore its IT systems but still fail if staff cannot reach a working location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2800" b="0" i="0" dirty="0">
                <a:solidFill>
                  <a:srgbClr val="FFFFFF"/>
                </a:solidFill>
                <a:latin typeface="Montserrat Medium"/>
              </a:rPr>
              <a:t>✓ This illustrates the Week 5 lesson: BCM is broader in scope than IT-focused disaster recovery alone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2800" b="0" i="0" dirty="0">
                <a:solidFill>
                  <a:srgbClr val="FFFFFF"/>
                </a:solidFill>
                <a:latin typeface="Montserrat Medium"/>
              </a:rPr>
              <a:t>✓ True resilience requires coordinated recovery across all critical dependencies, not just technology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4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2148840"/>
          </a:xfrm>
          <a:prstGeom prst="rect">
            <a:avLst/>
          </a:prstGeom>
          <a:solidFill>
            <a:srgbClr val="1D3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3615" y="320040"/>
            <a:ext cx="4167185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02920"/>
            <a:ext cx="1325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ED8022"/>
                </a:solidFill>
                <a:latin typeface="Montserrat SemiBold"/>
              </a:rPr>
              <a:t>WEEK 9 · APPLIED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508760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000" b="1" i="0" dirty="0">
                <a:solidFill>
                  <a:srgbClr val="FFFFFF"/>
                </a:solidFill>
                <a:latin typeface="Montserrat Black"/>
              </a:rPr>
              <a:t>Crisis Simulation: The First Hour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514600"/>
            <a:ext cx="4003040" cy="502920"/>
          </a:xfrm>
          <a:prstGeom prst="rect">
            <a:avLst/>
          </a:prstGeom>
          <a:solidFill>
            <a:srgbClr val="ED8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Montserrat SemiBold"/>
              </a:rPr>
              <a:t>ACTIVITY · 25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91840"/>
            <a:ext cx="16276320" cy="36195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2800" b="0" i="0" dirty="0">
                <a:solidFill>
                  <a:srgbClr val="FFFFFF"/>
                </a:solidFill>
                <a:latin typeface="Montserrat Medium"/>
              </a:rPr>
              <a:t>▪ In groups, review the simulated incident scenario (a data </a:t>
            </a:r>
            <a:r>
              <a:rPr sz="2800" b="0" i="0" dirty="0" err="1">
                <a:solidFill>
                  <a:srgbClr val="FFFFFF"/>
                </a:solidFill>
                <a:latin typeface="Montserrat Medium"/>
              </a:rPr>
              <a:t>centre</a:t>
            </a:r>
            <a:r>
              <a:rPr sz="2800" b="0" i="0" dirty="0">
                <a:solidFill>
                  <a:srgbClr val="FFFFFF"/>
                </a:solidFill>
                <a:latin typeface="Montserrat Medium"/>
              </a:rPr>
              <a:t> outage during business hours)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2800" b="0" i="0" dirty="0">
                <a:solidFill>
                  <a:srgbClr val="FFFFFF"/>
                </a:solidFill>
                <a:latin typeface="Montserrat Medium"/>
              </a:rPr>
              <a:t>▪ Assign incident command roles within your group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2800" b="0" i="0" dirty="0">
                <a:solidFill>
                  <a:srgbClr val="FFFFFF"/>
                </a:solidFill>
                <a:latin typeface="Montserrat Medium"/>
              </a:rPr>
              <a:t>▪ Draft a short internal and external communication message for the first hour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2800" b="0" i="0" dirty="0">
                <a:solidFill>
                  <a:srgbClr val="FFFFFF"/>
                </a:solidFill>
                <a:latin typeface="Montserrat Medium"/>
              </a:rPr>
              <a:t>▪ Present your group's response plan to the class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4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2148840"/>
          </a:xfrm>
          <a:prstGeom prst="rect">
            <a:avLst/>
          </a:prstGeom>
          <a:solidFill>
            <a:srgbClr val="1D3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9436" y="320040"/>
            <a:ext cx="4271364" cy="1874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02920"/>
            <a:ext cx="1325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ED8022"/>
                </a:solidFill>
                <a:latin typeface="Montserrat SemiBold"/>
              </a:rPr>
              <a:t>WEEK 9 · COMMON PITFALLS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5087600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400" b="1" i="0" dirty="0">
                <a:solidFill>
                  <a:srgbClr val="FFFFFF"/>
                </a:solidFill>
                <a:latin typeface="Montserrat Black"/>
              </a:rPr>
              <a:t>Lessons Learned in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16276320" cy="3050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2800" b="1" i="0" dirty="0">
                <a:solidFill>
                  <a:srgbClr val="FFFFFF"/>
                </a:solidFill>
                <a:latin typeface="Montserrat Medium"/>
              </a:rPr>
              <a:t>▪ Writing a business continuity plan that is never tested against a realistic scenario</a:t>
            </a:r>
          </a:p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2800" b="1" i="0" dirty="0">
                <a:solidFill>
                  <a:srgbClr val="FFFFFF"/>
                </a:solidFill>
                <a:latin typeface="Montserrat Medium"/>
              </a:rPr>
              <a:t>▪ Confusing disaster recovery (IT-focused) with full business continuity management</a:t>
            </a:r>
          </a:p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2800" b="1" i="0" dirty="0">
                <a:solidFill>
                  <a:srgbClr val="FFFFFF"/>
                </a:solidFill>
                <a:latin typeface="Montserrat Medium"/>
              </a:rPr>
              <a:t>▪ Leaving incident command roles undefined until a crisis is already underway</a:t>
            </a:r>
          </a:p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2800" b="1" i="0" dirty="0">
                <a:solidFill>
                  <a:srgbClr val="FFFFFF"/>
                </a:solidFill>
                <a:latin typeface="Montserrat Medium"/>
              </a:rPr>
              <a:t>▪ Delaying communication until 'all the facts are known', allowing confusion to spread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4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2148840"/>
          </a:xfrm>
          <a:prstGeom prst="rect">
            <a:avLst/>
          </a:prstGeom>
          <a:solidFill>
            <a:srgbClr val="1D3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9436" y="320040"/>
            <a:ext cx="4271364" cy="1874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02920"/>
            <a:ext cx="1325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ED8022"/>
                </a:solidFill>
                <a:latin typeface="Montserrat SemiBold"/>
              </a:rPr>
              <a:t>WEEK 9 ·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5087600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400" b="1" i="0" dirty="0">
                <a:solidFill>
                  <a:srgbClr val="FFFFFF"/>
                </a:solidFill>
                <a:latin typeface="Montserrat Black"/>
              </a:rPr>
              <a:t>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16276320" cy="36964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2800" b="1" i="0" dirty="0">
                <a:solidFill>
                  <a:srgbClr val="FFFFFF"/>
                </a:solidFill>
                <a:latin typeface="Montserrat Medium"/>
              </a:rPr>
              <a:t>▪ BIA findings should directly drive disaster recovery and continuity </a:t>
            </a:r>
            <a:r>
              <a:rPr sz="2800" b="1" i="0" dirty="0" err="1">
                <a:solidFill>
                  <a:srgbClr val="FFFFFF"/>
                </a:solidFill>
                <a:latin typeface="Montserrat Medium"/>
              </a:rPr>
              <a:t>prioritisation</a:t>
            </a:r>
            <a:endParaRPr sz="2800" b="1" i="0" dirty="0">
              <a:solidFill>
                <a:srgbClr val="FFFFFF"/>
              </a:solidFill>
              <a:latin typeface="Montserrat Medium"/>
            </a:endParaRPr>
          </a:p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2800" b="1" i="0" dirty="0">
                <a:solidFill>
                  <a:srgbClr val="FFFFFF"/>
                </a:solidFill>
                <a:latin typeface="Montserrat Medium"/>
              </a:rPr>
              <a:t>▪ Crisis communication quality can determine whether an incident becomes a full-blown reputational crisis</a:t>
            </a:r>
          </a:p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2800" b="1" i="0" dirty="0">
                <a:solidFill>
                  <a:srgbClr val="FFFFFF"/>
                </a:solidFill>
                <a:latin typeface="Montserrat Medium"/>
              </a:rPr>
              <a:t>▪ A tested incident command structure is essential for effective real-time crisis response</a:t>
            </a:r>
          </a:p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2800" b="1" i="0" dirty="0">
                <a:solidFill>
                  <a:srgbClr val="FFFFFF"/>
                </a:solidFill>
                <a:latin typeface="Montserrat Medium"/>
              </a:rPr>
              <a:t>▪ Next week: Threat Intelligence and Security Investigations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4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pattern_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8549640"/>
            <a:ext cx="8229600" cy="1920240"/>
          </a:xfrm>
          <a:prstGeom prst="rect">
            <a:avLst/>
          </a:prstGeom>
        </p:spPr>
      </p:pic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0954" y="320040"/>
            <a:ext cx="5839846" cy="25628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406640" y="3931920"/>
            <a:ext cx="70000" cy="1005840"/>
          </a:xfrm>
          <a:prstGeom prst="rect">
            <a:avLst/>
          </a:prstGeom>
          <a:solidFill>
            <a:srgbClr val="ED8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06640" y="5074920"/>
            <a:ext cx="70000" cy="1005840"/>
          </a:xfrm>
          <a:prstGeom prst="rect">
            <a:avLst/>
          </a:prstGeom>
          <a:solidFill>
            <a:srgbClr val="369A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406640" y="6217920"/>
            <a:ext cx="70000" cy="1005840"/>
          </a:xfrm>
          <a:prstGeom prst="rect">
            <a:avLst/>
          </a:prstGeom>
          <a:solidFill>
            <a:srgbClr val="548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79900" y="4452342"/>
            <a:ext cx="5943600" cy="1107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7200" b="1" dirty="0">
                <a:solidFill>
                  <a:srgbClr val="FFFFFF"/>
                </a:solidFill>
                <a:latin typeface="Montserrat Black"/>
              </a:rPr>
              <a:t>Thank You</a:t>
            </a:r>
            <a:endParaRPr sz="7200" b="1" i="0" dirty="0">
              <a:solidFill>
                <a:srgbClr val="FFFFFF"/>
              </a:solidFill>
              <a:latin typeface="Montserrat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889</Words>
  <Application>Microsoft Office PowerPoint</Application>
  <PresentationFormat>Custom</PresentationFormat>
  <Paragraphs>92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Montserrat</vt:lpstr>
      <vt:lpstr>Montserrat Black</vt:lpstr>
      <vt:lpstr>Montserrat Medium</vt:lpstr>
      <vt:lpstr>Montserrat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Kitso Molefe</cp:lastModifiedBy>
  <cp:revision>4</cp:revision>
  <dcterms:created xsi:type="dcterms:W3CDTF">2013-01-27T09:14:16Z</dcterms:created>
  <dcterms:modified xsi:type="dcterms:W3CDTF">2026-10-05T05:45:14Z</dcterms:modified>
  <cp:category/>
</cp:coreProperties>
</file>