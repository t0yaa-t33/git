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4" r:id="rId16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370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atter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0"/>
            <a:ext cx="18288000" cy="1463040"/>
          </a:xfrm>
          <a:prstGeom prst="rect">
            <a:avLst/>
          </a:prstGeom>
        </p:spPr>
      </p:pic>
      <p:pic>
        <p:nvPicPr>
          <p:cNvPr id="4" name="Picture 3" descr="patter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823960"/>
            <a:ext cx="8229600" cy="1737360"/>
          </a:xfrm>
          <a:prstGeom prst="rect">
            <a:avLst/>
          </a:prstGeom>
        </p:spPr>
      </p:pic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3888" y="457200"/>
            <a:ext cx="6395472" cy="280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931920"/>
            <a:ext cx="1600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i="0" dirty="0">
                <a:solidFill>
                  <a:srgbClr val="E1C5CB"/>
                </a:solidFill>
                <a:latin typeface="Montserrat SemiBold"/>
              </a:rPr>
              <a:t>BASICS FOR CORPORATE SECURITY AND RISK MANAGEMENT  |  C6-BCS-23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600200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  <a:latin typeface="Montserrat Black"/>
              </a:rPr>
              <a:t>Week 8: Information &amp; Cyber Security; Access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2138" y="320040"/>
            <a:ext cx="4508662" cy="19786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8 · 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 dirty="0">
                <a:solidFill>
                  <a:srgbClr val="FFFFFF"/>
                </a:solidFill>
                <a:latin typeface="Montserrat Black"/>
              </a:rPr>
              <a:t>The CIA Triad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3050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Confidentiality — ensuring information is accessible only to </a:t>
            </a:r>
            <a:r>
              <a:rPr sz="2800" b="1" i="0" dirty="0" err="1">
                <a:solidFill>
                  <a:srgbClr val="FFFFFF"/>
                </a:solidFill>
                <a:latin typeface="Montserrat Medium"/>
              </a:rPr>
              <a:t>authorised</a:t>
            </a:r>
            <a:r>
              <a:rPr sz="2800" b="1" i="0" dirty="0">
                <a:solidFill>
                  <a:srgbClr val="FFFFFF"/>
                </a:solidFill>
                <a:latin typeface="Montserrat Medium"/>
              </a:rPr>
              <a:t> parties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Integrity — ensuring information is accurate and has not been improperly altered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Availability — ensuring information and systems are accessible when needed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Every information security control can be mapped to one or more of these three goals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615" y="320040"/>
            <a:ext cx="4167185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8 · 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 dirty="0">
                <a:solidFill>
                  <a:srgbClr val="FFFFFF"/>
                </a:solidFill>
                <a:latin typeface="Montserrat Black"/>
              </a:rPr>
              <a:t>Common Cyber Threats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36964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Ransomware encrypts data and demands payment for restoration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Phishing uses deceptive messages to trick users into revealing credentials or installing malware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Social engineering manipulates people, not just systems, to bypass security controls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Zero Trust assumes no user or device is inherently trusted, verifying continuously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615" y="320040"/>
            <a:ext cx="4167185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8 · 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 dirty="0">
                <a:solidFill>
                  <a:srgbClr val="FFFFFF"/>
                </a:solidFill>
                <a:latin typeface="Montserrat Black"/>
              </a:rPr>
              <a:t>Access Control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2606040"/>
            <a:ext cx="20000" cy="7223760"/>
          </a:xfrm>
          <a:prstGeom prst="rect">
            <a:avLst/>
          </a:prstGeom>
          <a:solidFill>
            <a:srgbClr val="ED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78638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 dirty="0">
                <a:solidFill>
                  <a:srgbClr val="ED8022"/>
                </a:solidFill>
                <a:latin typeface="Montserrat SemiBold"/>
              </a:rPr>
              <a:t>Traditional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7863840" cy="35180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2400" b="0" i="0" dirty="0">
                <a:solidFill>
                  <a:srgbClr val="FFFFFF"/>
                </a:solidFill>
                <a:latin typeface="Montserrat"/>
              </a:rPr>
              <a:t>▪ DAC (Discretionary) — resource owner decides who gets access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2400" b="0" i="0" dirty="0">
                <a:solidFill>
                  <a:srgbClr val="FFFFFF"/>
                </a:solidFill>
                <a:latin typeface="Montserrat"/>
              </a:rPr>
              <a:t>▪ MAC (Mandatory) — access decided centrally by security labels/policy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2400" b="0" i="0" dirty="0">
                <a:solidFill>
                  <a:srgbClr val="FFFFFF"/>
                </a:solidFill>
                <a:latin typeface="Montserrat"/>
              </a:rPr>
              <a:t>▪ Common in government and high-security environments (MAC)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2606040"/>
            <a:ext cx="78638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 dirty="0">
                <a:solidFill>
                  <a:srgbClr val="ED8022"/>
                </a:solidFill>
                <a:latin typeface="Montserrat SemiBold"/>
              </a:rPr>
              <a:t>Modern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3246120"/>
            <a:ext cx="7863840" cy="35180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2400" b="0" i="0" dirty="0">
                <a:solidFill>
                  <a:srgbClr val="FFFFFF"/>
                </a:solidFill>
                <a:latin typeface="Montserrat"/>
              </a:rPr>
              <a:t>▪ RBAC (Role-Based) — access assigned according to job role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2400" b="0" i="0" dirty="0">
                <a:solidFill>
                  <a:srgbClr val="FFFFFF"/>
                </a:solidFill>
                <a:latin typeface="Montserrat"/>
              </a:rPr>
              <a:t>▪ ABAC (Attribute-Based) — access decided by multiple contextual attributes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2400" b="0" i="0" dirty="0">
                <a:solidFill>
                  <a:srgbClr val="FFFFFF"/>
                </a:solidFill>
                <a:latin typeface="Montserrat"/>
              </a:rPr>
              <a:t>▪ Identity &amp; Access Management (IAM) platforms enforce these models at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499" y="320039"/>
            <a:ext cx="4483101" cy="2057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8 · REAL-WORLD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 dirty="0">
                <a:solidFill>
                  <a:srgbClr val="FFFFFF"/>
                </a:solidFill>
                <a:latin typeface="Montserrat Black"/>
              </a:rPr>
              <a:t>The WannaCry Ransomware Outbreak (2017)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4879340" cy="502920"/>
          </a:xfrm>
          <a:prstGeom prst="rect">
            <a:avLst/>
          </a:prstGeom>
          <a:solidFill>
            <a:srgbClr val="369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ontserrat SemiBold"/>
              </a:rPr>
              <a:t>REAL-WORLD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6276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ED8022"/>
                </a:solidFill>
                <a:latin typeface="Montserrat SemiBold"/>
              </a:rPr>
              <a:t>Global Ransomware Attack — Including the UK's NHS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6276320" cy="4266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"/>
              </a:rPr>
              <a:t>▪ Exploited an unpatched Windows vulnerability to spread rapidly across networks worldwide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"/>
              </a:rPr>
              <a:t>▪ Disrupted hospital operations, including appointment and surgery cancellations in the UK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"/>
              </a:rPr>
              <a:t>▪ A previously released patch could have prevented infection on updated systems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"/>
              </a:rPr>
              <a:t>▪ Highlighted the direct link between patch management and cyber risk (echoing Module principles)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1077" y="320040"/>
            <a:ext cx="4936923" cy="1965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8 · REAL-WORLD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 dirty="0">
                <a:solidFill>
                  <a:srgbClr val="FFFFFF"/>
                </a:solidFill>
                <a:latin typeface="Montserrat Black"/>
              </a:rPr>
              <a:t>Colonial Pipeline Ransomware Attack (2021)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4968240" cy="502920"/>
          </a:xfrm>
          <a:prstGeom prst="rect">
            <a:avLst/>
          </a:prstGeom>
          <a:solidFill>
            <a:srgbClr val="369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ontserrat SemiBold"/>
              </a:rPr>
              <a:t>REAL-WORLD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6276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 dirty="0">
                <a:solidFill>
                  <a:srgbClr val="ED8022"/>
                </a:solidFill>
                <a:latin typeface="Montserrat SemiBold"/>
              </a:rPr>
              <a:t>Colonial Pipeline — US Fuel Supply Disruption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6276320" cy="4912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"/>
              </a:rPr>
              <a:t>▪ Attackers gained access via a single compromised VPN account with no multi-factor authentication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"/>
              </a:rPr>
              <a:t>▪ The company proactively shut down pipeline operations, disrupting fuel supply across the US East Coast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"/>
              </a:rPr>
              <a:t>▪ A direct, well-documented example of an access control failure enabling a major cyber incident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"/>
              </a:rPr>
              <a:t>▪ Prompted widespread industry adoption of mandatory MFA for remote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615" y="320040"/>
            <a:ext cx="4167185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8 · APPLYING THE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Worked Example: Applying RBAC in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4343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Scenario: a hospital's records system serves doctors, nurses, and administrative staff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RBAC design: doctors can view and edit full patient records; nurses can view and add notes only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Administrative staff can view billing information but not clinical notes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This limits each role's access to exactly what their job function requires — least privilege in 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615" y="320040"/>
            <a:ext cx="4167185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8 · 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Check Your Understanding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4726940" cy="502920"/>
          </a:xfrm>
          <a:prstGeom prst="rect">
            <a:avLst/>
          </a:prstGeom>
          <a:solidFill>
            <a:srgbClr val="ED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ontserrat SemiBold"/>
              </a:rPr>
              <a:t>QUESTION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627632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 dirty="0">
                <a:solidFill>
                  <a:srgbClr val="FFFFFF"/>
                </a:solidFill>
                <a:latin typeface="Montserrat SemiBold"/>
              </a:rPr>
              <a:t>How does the Colonial Pipeline case illustrate the difference between having an access control policy and actually enforcing it effectively?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62763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 dirty="0">
                <a:solidFill>
                  <a:srgbClr val="E1C5CB"/>
                </a:solidFill>
                <a:latin typeface="Montserrat"/>
              </a:rPr>
              <a:t>– Think about what single missing control allowed the breach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2138" y="320040"/>
            <a:ext cx="4508662" cy="19786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8 · 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Suggested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3977640" cy="502920"/>
          </a:xfrm>
          <a:prstGeom prst="rect">
            <a:avLst/>
          </a:prstGeom>
          <a:solidFill>
            <a:srgbClr val="548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ontserrat SemiBold"/>
              </a:rPr>
              <a:t>SOLUTION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6276320" cy="4911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A VPN account existed with valid credentials but without multi-factor authentication enforced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This shows access control models are only as strong as their weakest enforcement point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A single unprotected access path can undermine otherwise strong broader security architecture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This reinforces why IAM platforms are used to consistently enforce controls at scale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615" y="320040"/>
            <a:ext cx="4167185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8 · 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Check Your Understanding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4625340" cy="502920"/>
          </a:xfrm>
          <a:prstGeom prst="rect">
            <a:avLst/>
          </a:prstGeom>
          <a:solidFill>
            <a:srgbClr val="ED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ontserrat SemiBold"/>
              </a:rPr>
              <a:t>QUESTION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627632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i="0" dirty="0">
                <a:solidFill>
                  <a:srgbClr val="FFFFFF"/>
                </a:solidFill>
                <a:latin typeface="Montserrat SemiBold"/>
              </a:rPr>
              <a:t>Why is Zero Trust described as a shift away from traditional 'perimeter' security thinking?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6276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800" b="0" i="0" dirty="0">
                <a:solidFill>
                  <a:srgbClr val="E1C5CB"/>
                </a:solidFill>
                <a:latin typeface="Montserrat"/>
              </a:rPr>
              <a:t>– Consider the old assumption of a trusted internal network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6154" y="320040"/>
            <a:ext cx="3854646" cy="1691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8 · 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 dirty="0">
                <a:solidFill>
                  <a:srgbClr val="FFFFFF"/>
                </a:solidFill>
                <a:latin typeface="Montserrat Black"/>
              </a:rPr>
              <a:t>Suggested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3901440" cy="502920"/>
          </a:xfrm>
          <a:prstGeom prst="rect">
            <a:avLst/>
          </a:prstGeom>
          <a:solidFill>
            <a:srgbClr val="548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ontserrat SemiBold"/>
              </a:rPr>
              <a:t>SOLUTION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6276320" cy="36204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Traditional security assumed anything inside the network perimeter could be trusted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Zero Trust assumes no implicit trust, verifying every user and device continuously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This better addresses modern risks like remote work, cloud services, and insider threats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It connects directly to the access control models covered this week — verification, not blanket trust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615" y="320040"/>
            <a:ext cx="4167185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8 · APPLIED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 dirty="0">
                <a:solidFill>
                  <a:srgbClr val="FFFFFF"/>
                </a:solidFill>
                <a:latin typeface="Montserrat Black"/>
              </a:rPr>
              <a:t>Case Discussion: Anatomy of an Access Control Failure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3774440" cy="502920"/>
          </a:xfrm>
          <a:prstGeom prst="rect">
            <a:avLst/>
          </a:prstGeom>
          <a:solidFill>
            <a:srgbClr val="ED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ontserrat SemiBold"/>
              </a:rPr>
              <a:t>ACTIVITY · 20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6276320" cy="36195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▪ In groups, review the Colonial Pipeline case summary provided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▪ Map the incident against the CIA Triad — which element(s) were compromised?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▪ Propose one specific access control improvement that would have prevented the breach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▪ Share your group's proposal with the class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0" y="297180"/>
            <a:ext cx="4219274" cy="18516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8 · COMMON 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i="0" dirty="0">
                <a:solidFill>
                  <a:srgbClr val="FFFFFF"/>
                </a:solidFill>
                <a:latin typeface="Montserrat Black"/>
              </a:rPr>
              <a:t>Lessons Learned in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3050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Treating cybersecurity purely as an IT department responsibility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Failing to enforce multi-factor authentication on remote or privileged access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Granting broad access rights instead of applying role-based, least-privilege access control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Neglecting patch management, leaving known vulnerabilities exploitable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615" y="320040"/>
            <a:ext cx="4167185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8 ·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 dirty="0">
                <a:solidFill>
                  <a:srgbClr val="FFFFFF"/>
                </a:solidFill>
                <a:latin typeface="Montserrat Black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36964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The CIA Triad frames every information security objective: confidentiality, integrity, availability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Ransomware, phishing, and social engineering remain leading cyber threat vectors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Access control models (DAC, MAC, RBAC, ABAC) and IAM enforce least-privilege access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Internal Assessment 2 is now open — apply this week's concepts directly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atter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549640"/>
            <a:ext cx="8229600" cy="1920240"/>
          </a:xfrm>
          <a:prstGeom prst="rect">
            <a:avLst/>
          </a:prstGeom>
        </p:spPr>
      </p:pic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2750" y="320040"/>
            <a:ext cx="4798050" cy="21056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06640" y="3931920"/>
            <a:ext cx="70000" cy="1005840"/>
          </a:xfrm>
          <a:prstGeom prst="rect">
            <a:avLst/>
          </a:prstGeom>
          <a:solidFill>
            <a:srgbClr val="ED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06640" y="5074920"/>
            <a:ext cx="70000" cy="1005840"/>
          </a:xfrm>
          <a:prstGeom prst="rect">
            <a:avLst/>
          </a:prstGeom>
          <a:solidFill>
            <a:srgbClr val="369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06640" y="6217920"/>
            <a:ext cx="70000" cy="1005840"/>
          </a:xfrm>
          <a:prstGeom prst="rect">
            <a:avLst/>
          </a:prstGeom>
          <a:solidFill>
            <a:srgbClr val="548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59436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6000" b="1" dirty="0">
                <a:solidFill>
                  <a:srgbClr val="FFFFFF"/>
                </a:solidFill>
                <a:latin typeface="Montserrat Black"/>
              </a:rPr>
              <a:t>Thank You</a:t>
            </a:r>
            <a:endParaRPr sz="6000" b="1" i="0" dirty="0">
              <a:solidFill>
                <a:srgbClr val="FFFFFF"/>
              </a:solidFill>
              <a:latin typeface="Montserrat Blac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0" y="480060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i="0" dirty="0">
                <a:solidFill>
                  <a:srgbClr val="E1C5CB"/>
                </a:solidFill>
                <a:latin typeface="Montserrat SemiBold"/>
              </a:rPr>
              <a:t>Internal Assessment 2 due — check Blackboard for the deadline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859</Words>
  <Application>Microsoft Office PowerPoint</Application>
  <PresentationFormat>Custom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Montserrat</vt:lpstr>
      <vt:lpstr>Montserrat Black</vt:lpstr>
      <vt:lpstr>Montserrat Medium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Kitso Molefe</cp:lastModifiedBy>
  <cp:revision>3</cp:revision>
  <dcterms:created xsi:type="dcterms:W3CDTF">2013-01-27T09:14:16Z</dcterms:created>
  <dcterms:modified xsi:type="dcterms:W3CDTF">2026-10-05T05:34:40Z</dcterms:modified>
  <cp:category/>
</cp:coreProperties>
</file>