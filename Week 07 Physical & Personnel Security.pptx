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37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0"/>
            <a:ext cx="18288000" cy="1463040"/>
          </a:xfrm>
          <a:prstGeom prst="rect">
            <a:avLst/>
          </a:prstGeom>
        </p:spPr>
      </p:pic>
      <p:pic>
        <p:nvPicPr>
          <p:cNvPr id="4" name="Picture 3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823960"/>
            <a:ext cx="8229600" cy="173736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1888" y="457200"/>
            <a:ext cx="4977472" cy="218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931920"/>
            <a:ext cx="1600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E1C5CB"/>
                </a:solidFill>
                <a:latin typeface="Montserrat SemiBold"/>
              </a:rPr>
              <a:t>BASICS FOR CORPORATE SECURITY AND RISK MANAGEMENT  |  C6-BCS-23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60020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000" b="1" i="0" dirty="0">
                <a:solidFill>
                  <a:srgbClr val="FFFFFF"/>
                </a:solidFill>
                <a:latin typeface="Montserrat Black"/>
              </a:rPr>
              <a:t>Week 7: Physical &amp; Personnel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1526" y="320040"/>
            <a:ext cx="4219274" cy="1851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400" b="1" i="0" dirty="0">
                <a:solidFill>
                  <a:srgbClr val="FFFFFF"/>
                </a:solidFill>
                <a:latin typeface="Montserrat Black"/>
              </a:rPr>
              <a:t>Objectives</a:t>
            </a:r>
            <a:endParaRPr sz="4400" b="1" i="0" dirty="0">
              <a:solidFill>
                <a:srgbClr val="FFFFFF"/>
              </a:solidFill>
              <a:latin typeface="Montserrat Blac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05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Explain the role of layered physical access controls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Describe the use of CCTV, biometrics, and visitor management systems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Explain the purpose and process of employee vetting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Assess the risk posed by insider threats and how personnel security mitigates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3199" y="320040"/>
            <a:ext cx="4537601" cy="1991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Layered Physical Access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05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Perimeter controls: fencing, gates, and perimeter monitoring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Building-level controls: badge access, turnstiles, and reception screening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Asset-level controls: locked server rooms, safes, and restricted zones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Layering ensures no single control failure grants full access to critical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36" y="32004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CCTV, Biometrics, and Visitor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696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CCTV provides deterrence, detection, and post-incident investigation evidence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Biometrics (fingerprint, facial recognition) strengthen identity assurance beyond a badge alone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Visitor management systems log, badge, and escort non-employees appropriately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Each control must be balanced against privacy expectations and legal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36" y="32004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Employee Vetting and Insider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05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Vetting includes background checks, reference checks, and qualification verification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Insider threats may be malicious (deliberate harm) or negligent (careless mistakes)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Ongoing monitoring, not just pre-employment vetting, is needed for high-risk roles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Personnel security works best combined with the culture principles covered in Week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REAL-WORLD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The Edward Snowden Case (2013)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023360" cy="50292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REAL-WORLD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6276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ED8022"/>
                </a:solidFill>
                <a:latin typeface="Montserrat SemiBold"/>
              </a:rPr>
              <a:t>NSA Contractor — Large-Scale </a:t>
            </a:r>
            <a:r>
              <a:rPr sz="2800" b="1" i="0" dirty="0" err="1">
                <a:solidFill>
                  <a:srgbClr val="ED8022"/>
                </a:solidFill>
                <a:latin typeface="Montserrat SemiBold"/>
              </a:rPr>
              <a:t>Unauthorised</a:t>
            </a:r>
            <a:r>
              <a:rPr sz="2800" b="1" i="0" dirty="0">
                <a:solidFill>
                  <a:srgbClr val="ED8022"/>
                </a:solidFill>
                <a:latin typeface="Montserrat SemiBold"/>
              </a:rPr>
              <a:t> Data Disclosure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6276320" cy="2614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A systems administrator with broad legitimate access copied and disclosed classified material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Highlighted gaps between vetting depth and the level of access actually granted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Raised significant questions about insider monitoring for even highly cleared personnel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Remains one of the most cited insider threat cases in security education globally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0" y="238443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REAL-WORLD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48881"/>
            <a:ext cx="1508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i="0" dirty="0">
                <a:solidFill>
                  <a:srgbClr val="FFFFFF"/>
                </a:solidFill>
                <a:latin typeface="Montserrat Black"/>
              </a:rPr>
              <a:t>Layered Physical Security in Large Technology Campuses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472940" cy="50292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REAL-WORLD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627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 dirty="0">
                <a:solidFill>
                  <a:srgbClr val="ED8022"/>
                </a:solidFill>
                <a:latin typeface="Montserrat SemiBold"/>
              </a:rPr>
              <a:t>Major Technology Company Campuses — Best-Practice Physical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6276320" cy="2614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Combine perimeter fencing, badge access, biometric checkpoints, and CCTV in a layered model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Visitor management systems require pre-registration, badging, and escorted access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Sensitive areas (data </a:t>
            </a:r>
            <a:r>
              <a:rPr sz="2400" b="0" i="0" dirty="0" err="1">
                <a:solidFill>
                  <a:srgbClr val="FFFFFF"/>
                </a:solidFill>
                <a:latin typeface="Montserrat"/>
              </a:rPr>
              <a:t>centres</a:t>
            </a:r>
            <a:r>
              <a:rPr sz="2400" b="0" i="0" dirty="0">
                <a:solidFill>
                  <a:srgbClr val="FFFFFF"/>
                </a:solidFill>
                <a:latin typeface="Montserrat"/>
              </a:rPr>
              <a:t>) require additional independent authentication layers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400" b="0" i="0" dirty="0">
                <a:solidFill>
                  <a:srgbClr val="FFFFFF"/>
                </a:solidFill>
                <a:latin typeface="Montserrat"/>
              </a:rPr>
              <a:t>▪ Demonstrates layered </a:t>
            </a:r>
            <a:r>
              <a:rPr sz="2400" b="0" i="0" dirty="0" err="1">
                <a:solidFill>
                  <a:srgbClr val="FFFFFF"/>
                </a:solidFill>
                <a:latin typeface="Montserrat"/>
              </a:rPr>
              <a:t>defence</a:t>
            </a:r>
            <a:r>
              <a:rPr sz="2400" b="0" i="0" dirty="0">
                <a:solidFill>
                  <a:srgbClr val="FFFFFF"/>
                </a:solidFill>
                <a:latin typeface="Montserrat"/>
              </a:rPr>
              <a:t> in practice: no single control is relied upon alone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APPLYING 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Worked Example: Designing Access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697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Scenario: a corporate headquarters has general offices, finance, and a server room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Tier 1 (general offices): badge access at building entry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Tier 2 (finance): badge access plus PIN code, restricted to finance staff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Tier 3 (server room): badge, PIN, and biometric check, with full CCTV coverage and access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0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Check Your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8379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QUESTION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1394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3200" b="1" i="0" dirty="0">
                <a:solidFill>
                  <a:srgbClr val="FFFFFF"/>
                </a:solidFill>
                <a:latin typeface="Montserrat SemiBold"/>
              </a:rPr>
              <a:t>What specific gap does the Snowden case reveal about the relationship between vetting and access provisioning?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627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 dirty="0">
                <a:solidFill>
                  <a:srgbClr val="E1C5CB"/>
                </a:solidFill>
                <a:latin typeface="Montserrat"/>
              </a:rPr>
              <a:t>– Think about whether being vetted should automatically justify broad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Suggested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279140" cy="50292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SOLUTION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5559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Passing vetting does not mean an individual should automatically receive maximum system access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Access should be provisioned based on role necessity, not just clearance level (least privilege)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Ongoing monitoring is needed even for vetted, trusted personnel with legitimate access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This connects directly to Week 8's access control models — access should be role-based, not blanket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154" y="320040"/>
            <a:ext cx="3854646" cy="1691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Check Your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8252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QUESTION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FFFFFF"/>
                </a:solidFill>
                <a:latin typeface="Montserrat SemiBold"/>
              </a:rPr>
              <a:t>Why is layered physical security considered more effective than investing heavily in a single strong control, such as an expensive perimeter fence alone?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6276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800" b="0" i="0" dirty="0">
                <a:solidFill>
                  <a:srgbClr val="E1C5CB"/>
                </a:solidFill>
                <a:latin typeface="Montserrat"/>
              </a:rPr>
              <a:t>– Consider what happens if that single control fails or is bypassed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138" y="320040"/>
            <a:ext cx="4508662" cy="1978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Suggested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456940" cy="50292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SOLUTION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491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A single control creates a single point of failure — once bypassed, there is nothing behind it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Layering means a failure at one layer is still caught by controls at the next layer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Layered approaches also allow different control types (physical, procedural, technical) to reinforce each other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This mirrors the general risk management principle of not relying on one treatment alone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0" y="251459"/>
            <a:ext cx="4656357" cy="2043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APPLIED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Policy Design: Vetting and Access for a New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5204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ACTIVITY · 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29731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In groups, review the new-hire role description provided (an IT systems administrator)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Design an appropriate vetting checklist for this specific role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Assign an appropriate access tier, referencing the worked example structure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Present your group's design to the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561" y="160019"/>
            <a:ext cx="4896440" cy="21488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COMMON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870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Lessons Learned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05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Granting broad access based on seniority or trust rather than actual role necessity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Treating vetting as a one-time pre-employment check rather than an ongoing process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Relying on a single physical control layer instead of a </a:t>
            </a:r>
            <a:r>
              <a:rPr sz="2800" b="1" i="0" dirty="0" err="1">
                <a:solidFill>
                  <a:srgbClr val="FFFFFF"/>
                </a:solidFill>
                <a:latin typeface="Montserrat Medium"/>
              </a:rPr>
              <a:t>defence</a:t>
            </a:r>
            <a:r>
              <a:rPr sz="2800" b="1" i="0" dirty="0">
                <a:solidFill>
                  <a:srgbClr val="FFFFFF"/>
                </a:solidFill>
                <a:latin typeface="Montserrat Medium"/>
              </a:rPr>
              <a:t>-in-depth approach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Installing CCTV or biometric systems without addressing legal and privacy considerations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36" y="32004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7 ·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26913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400" b="1" i="0" dirty="0">
                <a:solidFill>
                  <a:srgbClr val="FFFFFF"/>
                </a:solidFill>
                <a:latin typeface="Montserrat Medium"/>
              </a:rPr>
              <a:t>▪ Layered physical controls prevent any single point of failure from granting full access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400" b="1" i="0" dirty="0">
                <a:solidFill>
                  <a:srgbClr val="FFFFFF"/>
                </a:solidFill>
                <a:latin typeface="Montserrat Medium"/>
              </a:rPr>
              <a:t>▪ CCTV, biometrics, and visitor management strengthen identity assurance and accountability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400" b="1" i="0" dirty="0">
                <a:solidFill>
                  <a:srgbClr val="FFFFFF"/>
                </a:solidFill>
                <a:latin typeface="Montserrat Medium"/>
              </a:rPr>
              <a:t>▪ Vetting and insider threat monitoring are ongoing processes, not one-off events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400" b="1" i="0" dirty="0">
                <a:solidFill>
                  <a:srgbClr val="FFFFFF"/>
                </a:solidFill>
                <a:latin typeface="Montserrat Medium"/>
              </a:rPr>
              <a:t>▪ Next week: Information &amp; Cyber Security, including Access Control — plus Internal Assessment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549640"/>
            <a:ext cx="8229600" cy="1920240"/>
          </a:xfrm>
          <a:prstGeom prst="rect">
            <a:avLst/>
          </a:prstGeom>
        </p:spPr>
      </p:pic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0" y="320040"/>
            <a:ext cx="1463040" cy="6420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06640" y="3931920"/>
            <a:ext cx="70000" cy="100584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06640" y="5074920"/>
            <a:ext cx="70000" cy="100584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6217920"/>
            <a:ext cx="70000" cy="100584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7250" y="4488180"/>
            <a:ext cx="89535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Montserrat Black"/>
              </a:rPr>
              <a:t>Thank You</a:t>
            </a:r>
            <a:endParaRPr sz="6000" b="1" i="0" dirty="0">
              <a:solidFill>
                <a:srgbClr val="FFFFFF"/>
              </a:solidFill>
              <a:latin typeface="Montserrat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909</Words>
  <Application>Microsoft Office PowerPoint</Application>
  <PresentationFormat>Custom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Montserrat</vt:lpstr>
      <vt:lpstr>Montserrat Black</vt:lpstr>
      <vt:lpstr>Montserrat Medium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Kitso Molefe</cp:lastModifiedBy>
  <cp:revision>2</cp:revision>
  <dcterms:created xsi:type="dcterms:W3CDTF">2013-01-27T09:14:16Z</dcterms:created>
  <dcterms:modified xsi:type="dcterms:W3CDTF">2026-09-21T06:39:49Z</dcterms:modified>
  <cp:category/>
</cp:coreProperties>
</file>